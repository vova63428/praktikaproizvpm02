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576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33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648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8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6644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6710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04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2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638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570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629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1946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740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367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293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43919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883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DEE46C5-0917-4784-9E84-D89AD59E2935}" type="datetimeFigureOut">
              <a:rPr lang="ru-RU" smtClean="0"/>
              <a:t>27.08.2026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B5B68-12A2-499A-8CFB-1B409B99D8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752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0942" y="206534"/>
            <a:ext cx="9404723" cy="1400530"/>
          </a:xfrm>
        </p:spPr>
        <p:txBody>
          <a:bodyPr/>
          <a:lstStyle/>
          <a:p>
            <a:pPr algn="ctr"/>
            <a:r>
              <a:rPr lang="ru-RU" dirty="0" smtClean="0"/>
              <a:t>ПМ.02 Осуществление интеграции программных модулей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0" y="2646484"/>
            <a:ext cx="8299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Руководитель практики от колледжа: Седов Алексей Сергеевич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0" y="3160807"/>
            <a:ext cx="8862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Руководитель практики от организации: </a:t>
            </a:r>
            <a:r>
              <a:rPr lang="ru-RU" dirty="0" err="1" smtClean="0"/>
              <a:t>Зязин</a:t>
            </a:r>
            <a:r>
              <a:rPr lang="ru-RU" dirty="0" smtClean="0"/>
              <a:t> Сергей Валерьевич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685904"/>
            <a:ext cx="5873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Выполнил: </a:t>
            </a:r>
            <a:r>
              <a:rPr lang="ru-RU" dirty="0" err="1" smtClean="0"/>
              <a:t>Кибардин</a:t>
            </a:r>
            <a:r>
              <a:rPr lang="ru-RU" dirty="0" smtClean="0"/>
              <a:t> Владимир Михайлович 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201694"/>
            <a:ext cx="8185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Место прохождения: Администрация города Слободского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172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Цели и Задачи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80645" y="1756175"/>
            <a:ext cx="8487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Цель:</a:t>
            </a:r>
            <a:r>
              <a:rPr lang="ru-RU" dirty="0"/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Разработать и интегрировать программный модуль для автоматизации учёта аренды муниципального имущества.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80645" y="2690300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Задачи: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Провести анализ предметной области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Разработать базу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Создать серверную часть (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Web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API)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Разработать клиентское приложение (WPF)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Выполнить интеграцию и тестирование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Подготовить документацию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01486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Актуальность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46110" y="1569194"/>
            <a:ext cx="928919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Проблема: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Учёт аренды муниципального имущества ведётся не централизованно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Отсутствие единой системы контроля договоров и платежей</a:t>
            </a:r>
          </a:p>
          <a:p>
            <a:pPr>
              <a:buFont typeface="Arial" panose="020B0604020202020204" pitchFamily="34" charset="0"/>
              <a:buChar char="•"/>
            </a:pP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rgbClr val="F9FAFB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Решение: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Создание единой информационной системы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Автоматизация учёта объектов, арендаторов, договоров и платежей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Повышение прозрачности и эффективности управления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5497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Анализ предметной области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744415" y="1727456"/>
            <a:ext cx="888316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Основные сущности: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Объекты недвижимости (адрес, площадь, тип, состояние)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Арендаторы (ИНН, название, контакты)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Договоры аренды (сроки, ставка, статус)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Платежи (сумма, дата, тип, пени)</a:t>
            </a:r>
          </a:p>
          <a:p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Пользователи: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Администратор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Сотрудник отдела аренды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Бухгалтер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Арендатор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64198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Модель базы данных (</a:t>
            </a:r>
            <a:r>
              <a:rPr lang="en-US" dirty="0"/>
              <a:t>ER-</a:t>
            </a:r>
            <a:r>
              <a:rPr lang="ru-RU" dirty="0"/>
              <a:t>диаграмма)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3" name="Рисунок 2"/>
          <p:cNvPicPr/>
          <p:nvPr/>
        </p:nvPicPr>
        <p:blipFill rotWithShape="1">
          <a:blip r:embed="rId2"/>
          <a:srcRect l="2" r="1118"/>
          <a:stretch/>
        </p:blipFill>
        <p:spPr bwMode="auto">
          <a:xfrm>
            <a:off x="6682153" y="2461847"/>
            <a:ext cx="4739201" cy="3990608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9588" y="2277181"/>
            <a:ext cx="3591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Основные таблицы: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329588" y="2646513"/>
            <a:ext cx="40226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Users - </a:t>
            </a:r>
            <a:r>
              <a:rPr lang="ru-RU" dirty="0"/>
              <a:t>П</a:t>
            </a:r>
            <a:r>
              <a:rPr lang="ru-RU" dirty="0" smtClean="0"/>
              <a:t>ользователи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Tenants - </a:t>
            </a:r>
            <a:r>
              <a:rPr lang="ru-RU" dirty="0" smtClean="0"/>
              <a:t> Арендаторы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 smtClean="0"/>
              <a:t>PropertyObjects</a:t>
            </a:r>
            <a:r>
              <a:rPr lang="en-US" dirty="0" smtClean="0"/>
              <a:t> -</a:t>
            </a:r>
            <a:r>
              <a:rPr lang="ru-RU" dirty="0" smtClean="0"/>
              <a:t> Объекты</a:t>
            </a:r>
            <a:r>
              <a:rPr lang="en-US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Contracts - </a:t>
            </a:r>
            <a:r>
              <a:rPr lang="ru-RU" dirty="0"/>
              <a:t>Д</a:t>
            </a:r>
            <a:r>
              <a:rPr lang="ru-RU" dirty="0" smtClean="0"/>
              <a:t>оговоры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Payments - </a:t>
            </a:r>
            <a:r>
              <a:rPr lang="ru-RU" dirty="0" smtClean="0"/>
              <a:t>Платежи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Employees - </a:t>
            </a:r>
            <a:r>
              <a:rPr lang="ru-RU" dirty="0" smtClean="0"/>
              <a:t>Сотрудники</a:t>
            </a:r>
            <a:endParaRPr lang="en-US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2375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 </a:t>
            </a:r>
            <a:r>
              <a:rPr lang="ru-RU" dirty="0"/>
              <a:t>Серверная часть (</a:t>
            </a:r>
            <a:r>
              <a:rPr lang="en-US" dirty="0"/>
              <a:t>API)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646111" y="151878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Технологии: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  ASP.NET Core 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Entity Framework Core (Code First)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REST API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6111" y="2991369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 Основные контроллеры: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 err="1" smtClean="0">
                <a:solidFill>
                  <a:srgbClr val="F9FAFB"/>
                </a:solidFill>
                <a:effectLst/>
                <a:latin typeface="quote-cjk-patch"/>
              </a:rPr>
              <a:t>AuthController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—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авторизация и регистрация пользователей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 err="1" smtClean="0">
                <a:solidFill>
                  <a:srgbClr val="F9FAFB"/>
                </a:solidFill>
                <a:effectLst/>
                <a:latin typeface="quote-cjk-patch"/>
              </a:rPr>
              <a:t>ContractsController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—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управление договорами аренды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 err="1" smtClean="0">
                <a:solidFill>
                  <a:srgbClr val="F9FAFB"/>
                </a:solidFill>
                <a:effectLst/>
                <a:latin typeface="quote-cjk-patch"/>
              </a:rPr>
              <a:t>PropertyObjectsController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—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управление объектами недвижимости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 err="1" smtClean="0">
                <a:solidFill>
                  <a:srgbClr val="F9FAFB"/>
                </a:solidFill>
                <a:effectLst/>
                <a:latin typeface="quote-cjk-patch"/>
              </a:rPr>
              <a:t>TenantsController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—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управление арендаторами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 err="1" smtClean="0">
                <a:solidFill>
                  <a:srgbClr val="F9FAFB"/>
                </a:solidFill>
                <a:effectLst/>
                <a:latin typeface="quote-cjk-patch"/>
              </a:rPr>
              <a:t>PaymentsController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—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управление платежами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en-US" b="0" i="0" dirty="0" err="1" smtClean="0">
                <a:solidFill>
                  <a:srgbClr val="F9FAFB"/>
                </a:solidFill>
                <a:effectLst/>
                <a:latin typeface="quote-cjk-patch"/>
              </a:rPr>
              <a:t>ReportsController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—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формирование отчётов (</a:t>
            </a: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Excel/CSV)</a:t>
            </a:r>
            <a:endParaRPr lang="en-US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110" y="2991368"/>
            <a:ext cx="4775607" cy="284795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11" y="1659020"/>
            <a:ext cx="4775607" cy="119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 </a:t>
            </a:r>
            <a:r>
              <a:rPr lang="ru-RU" dirty="0"/>
              <a:t>Клиентская часть (</a:t>
            </a:r>
            <a:r>
              <a:rPr lang="en-US" dirty="0"/>
              <a:t>WPF)</a:t>
            </a:r>
            <a:r>
              <a:rPr lang="en-US" b="1" dirty="0"/>
              <a:t/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352722" y="168619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Разделы приложения: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Договоры — просмотр, добавление, расторжение договоров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Объекты — управление объектами недвижимости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Арендаторы — управление арендаторами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Платежи — просмотр платежей по договору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Должники — список арендаторов с задолженностью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68" y="3717519"/>
            <a:ext cx="5475939" cy="3083438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565193"/>
              </p:ext>
            </p:extLst>
          </p:nvPr>
        </p:nvGraphicFramePr>
        <p:xfrm>
          <a:off x="6448722" y="3653897"/>
          <a:ext cx="5555710" cy="3147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855"/>
                <a:gridCol w="2777855"/>
              </a:tblGrid>
              <a:tr h="381708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Роль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Доступ</a:t>
                      </a:r>
                    </a:p>
                  </a:txBody>
                  <a:tcPr marL="152400" marR="152400" marT="95250" marB="95250" anchor="ctr"/>
                </a:tc>
              </a:tr>
              <a:tr h="381708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Администратор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Все разделы</a:t>
                      </a:r>
                    </a:p>
                  </a:txBody>
                  <a:tcPr marL="152400" marT="95250" marB="95250" anchor="ctr"/>
                </a:tc>
              </a:tr>
              <a:tr h="606979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Сотрудник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Объекты, арендаторы, договоры</a:t>
                      </a:r>
                    </a:p>
                  </a:txBody>
                  <a:tcPr marL="152400" marT="95250" marB="95250" anchor="ctr"/>
                </a:tc>
              </a:tr>
              <a:tr h="606979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Бухгалтер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Договоры, платежи, должники</a:t>
                      </a:r>
                    </a:p>
                  </a:txBody>
                  <a:tcPr marL="152400" marT="95250" marB="95250" anchor="ctr"/>
                </a:tc>
              </a:tr>
              <a:tr h="606979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Арендатор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Только свои договоры и платежи</a:t>
                      </a: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76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Модульное и интеграционное тестирование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60" y="4352072"/>
            <a:ext cx="4098924" cy="18588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9376" y="6271891"/>
            <a:ext cx="5635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Модульное тестирование</a:t>
            </a:r>
            <a:endParaRPr lang="ru-RU" sz="1200" dirty="0"/>
          </a:p>
        </p:txBody>
      </p:sp>
      <p:pic>
        <p:nvPicPr>
          <p:cNvPr id="7" name="Рисунок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"/>
          <a:stretch/>
        </p:blipFill>
        <p:spPr bwMode="auto">
          <a:xfrm>
            <a:off x="7235313" y="4343158"/>
            <a:ext cx="3842996" cy="18588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854461" y="6266007"/>
            <a:ext cx="5635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Интеграционное тестирование</a:t>
            </a:r>
            <a:endParaRPr lang="ru-RU" sz="1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831474" y="212937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Интеграционное тестирование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 выполнено для серверной части с помощью </a:t>
            </a:r>
            <a:r>
              <a:rPr lang="ru-RU" b="1" i="0" dirty="0" err="1" smtClean="0">
                <a:solidFill>
                  <a:srgbClr val="F9FAFB"/>
                </a:solidFill>
                <a:effectLst/>
                <a:latin typeface="quote-cjk-patch"/>
              </a:rPr>
              <a:t>WebApplicationFactory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 и </a:t>
            </a:r>
            <a:r>
              <a:rPr lang="ru-RU" b="1" i="0" dirty="0" err="1" smtClean="0">
                <a:solidFill>
                  <a:srgbClr val="F9FAFB"/>
                </a:solidFill>
                <a:effectLst/>
                <a:latin typeface="quote-cjk-patch"/>
              </a:rPr>
              <a:t>In-Memory</a:t>
            </a:r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 базы данных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. Проверены: доступ к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эндпоинтам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без авторизации, разграничение прав по ролям, работа с договорами, объектами и арендаторами, а также доступ бухгалтера к сводке платежей и списку должников.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146538" y="2129374"/>
            <a:ext cx="543657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Модульное тестирование проведено для клиентского сервиса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ApiClient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с использованием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фреймворков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NUnit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и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Moq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. Проверены сценарии успешного выполнения запросов, ошибок аутентификации (401), сетевых сбоев и корректности формирования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авторизационных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заголовков X-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Login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и X-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Password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659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Разработка документов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21387" y="1254766"/>
            <a:ext cx="77125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Для разработанной программной системы подготовлена полная сопровождающая документация:</a:t>
            </a:r>
          </a:p>
          <a:p>
            <a:pPr>
              <a:buFont typeface="+mj-lt"/>
              <a:buAutoNum type="arabicPeriod"/>
            </a:pPr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Руководство оператора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 — регламентирует работу пользователей всех ролей.</a:t>
            </a:r>
            <a:b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Включает инструкции по установке и запуску, входу в систему, выполнению ключевых операций (работа с объектами, арендаторами, договорами, платежами, управление учётными записями), а также описание действий при возникновении нештатных ситуаций.</a:t>
            </a:r>
          </a:p>
          <a:p>
            <a:pPr>
              <a:buFont typeface="+mj-lt"/>
              <a:buAutoNum type="arabicPeriod"/>
            </a:pPr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Пояснительная записка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 — отражает архитектурное решение системы, перечень реализованных функций, обоснование выбранных технологий, результаты проведённого тестирования и порядок развёртывания.</a:t>
            </a:r>
            <a:b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Документ даёт полное представление о структуре комплекса, внутренней логике и принципах взаимодействия компонентов.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508" y="1643000"/>
            <a:ext cx="3626094" cy="37923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8154" y="5435333"/>
            <a:ext cx="33410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Руководство оператора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02143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Заключение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43072" y="1459001"/>
            <a:ext cx="10210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В ходе выполнения практики по модулю «Осуществление интеграции программных модулей» разработан программный комплекс «Управление арендой муниципального имущества».</a:t>
            </a:r>
          </a:p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Решены следующие задачи: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Проведён анализ предметной области, построены UML-диаграммы и ER-модель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Спроектирована и развёрнута база данных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Microsoft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SQL 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Server</a:t>
            </a:r>
            <a:endParaRPr lang="ru-RU" b="0" i="0" dirty="0" smtClean="0">
              <a:solidFill>
                <a:srgbClr val="F9FAFB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Реализован серверный REST API на</a:t>
            </a:r>
            <a:r>
              <a:rPr lang="en-US" dirty="0">
                <a:solidFill>
                  <a:srgbClr val="F9FAFB"/>
                </a:solidFill>
                <a:latin typeface="quote-cjk-patch"/>
              </a:rPr>
              <a:t> </a:t>
            </a:r>
            <a:r>
              <a:rPr lang="en-US" dirty="0" smtClean="0">
                <a:solidFill>
                  <a:srgbClr val="F9FAFB"/>
                </a:solidFill>
                <a:latin typeface="quote-cjk-patch"/>
              </a:rPr>
              <a:t>ASP.NET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 </a:t>
            </a:r>
            <a:r>
              <a:rPr lang="ru-RU" b="0" i="0" dirty="0" err="1" smtClean="0">
                <a:solidFill>
                  <a:srgbClr val="F9FAFB"/>
                </a:solidFill>
                <a:effectLst/>
                <a:latin typeface="quote-cjk-patch"/>
              </a:rPr>
              <a:t>Core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 8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Разработано клиентское WPF-приложение с ролевой моделью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Выполнена интеграция клиента с API через HTTP-запросы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Проведено тестирование: модульное, интеграционное, ручное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 smtClean="0">
                <a:solidFill>
                  <a:srgbClr val="F9FAFB"/>
                </a:solidFill>
                <a:effectLst/>
                <a:latin typeface="quote-cjk-patch"/>
              </a:rPr>
              <a:t> 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Подготовлена документация: руководство оператора и пояснительная записка</a:t>
            </a:r>
          </a:p>
          <a:p>
            <a:r>
              <a:rPr lang="ru-RU" b="1" i="0" dirty="0" smtClean="0">
                <a:solidFill>
                  <a:srgbClr val="F9FAFB"/>
                </a:solidFill>
                <a:effectLst/>
                <a:latin typeface="quote-cjk-patch"/>
              </a:rPr>
              <a:t>Итог:</a:t>
            </a: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/>
            </a:r>
            <a:b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</a:br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Созданная система позволяет автоматизировать учёт аренды, контролировать договоры и платежи, формировать отчётность и повысить прозрачность управления муниципальным имуществом.</a:t>
            </a:r>
          </a:p>
          <a:p>
            <a:r>
              <a:rPr lang="ru-RU" b="0" i="0" dirty="0" smtClean="0">
                <a:solidFill>
                  <a:srgbClr val="F9FAFB"/>
                </a:solidFill>
                <a:effectLst/>
                <a:latin typeface="quote-cjk-patch"/>
              </a:rPr>
              <a:t>Все задачи, поставленные на период практики, выполнены в полном объёме.</a:t>
            </a:r>
            <a:endParaRPr lang="ru-RU" b="0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944279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6987" y="2404611"/>
            <a:ext cx="9404723" cy="1400530"/>
          </a:xfrm>
        </p:spPr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56204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433</Words>
  <Application>Microsoft Office PowerPoint</Application>
  <PresentationFormat>Широкоэкранный</PresentationFormat>
  <Paragraphs>98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quote-cjk-patch</vt:lpstr>
      <vt:lpstr>Wingdings 3</vt:lpstr>
      <vt:lpstr>Ион</vt:lpstr>
      <vt:lpstr>ПМ.02 Осуществление интеграции программных модулей</vt:lpstr>
      <vt:lpstr>Цели и Задачи</vt:lpstr>
      <vt:lpstr>Актуальность </vt:lpstr>
      <vt:lpstr>Анализ предметной области </vt:lpstr>
      <vt:lpstr>Модель базы данных (ER-диаграмма) </vt:lpstr>
      <vt:lpstr> Серверная часть (API) </vt:lpstr>
      <vt:lpstr> Клиентская часть (WPF) </vt:lpstr>
      <vt:lpstr>Модульное и интеграционное тестирование </vt:lpstr>
      <vt:lpstr>Разработка документов </vt:lpstr>
      <vt:lpstr>Заключение </vt:lpstr>
      <vt:lpstr>Спасибо за внимание!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ПМ.02 Осуществление интеграции программных модулей</dc:title>
  <dc:creator>Вова</dc:creator>
  <cp:lastModifiedBy>Вова</cp:lastModifiedBy>
  <cp:revision>9</cp:revision>
  <dcterms:created xsi:type="dcterms:W3CDTF">2026-08-27T12:19:14Z</dcterms:created>
  <dcterms:modified xsi:type="dcterms:W3CDTF">2026-08-27T14:04:04Z</dcterms:modified>
</cp:coreProperties>
</file>